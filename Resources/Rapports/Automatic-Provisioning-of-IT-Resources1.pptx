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06621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Automatic Provisioning of IT Resources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81655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Scalable Web Application Deployment Architecture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7559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Challenge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306479"/>
            <a:ext cx="8338899" cy="4654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466" y="2229803"/>
            <a:ext cx="315087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Complex Deployment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3466" y="2802612"/>
            <a:ext cx="424612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Deploying and scaling complex microservices applications across physical infrastructure requires sophisticated automation and intelligent resource management.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3466" y="47527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Manual Limitations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3466" y="5325547"/>
            <a:ext cx="424612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manual provisioning cannot handle dynamic scaling demands, resource optimization, and fault tolerance requirements of high-load web applications.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2322" y="782003"/>
            <a:ext cx="7732157" cy="132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Physical Infrastructure Foundation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192322" y="2390775"/>
            <a:ext cx="3772138" cy="2590205"/>
          </a:xfrm>
          <a:prstGeom prst="roundRect">
            <a:avLst>
              <a:gd name="adj" fmla="val 327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1633" y="2600087"/>
            <a:ext cx="605076" cy="605076"/>
          </a:xfrm>
          <a:prstGeom prst="roundRect">
            <a:avLst>
              <a:gd name="adj" fmla="val 15110640"/>
            </a:avLst>
          </a:prstGeom>
          <a:solidFill>
            <a:srgbClr val="1A2D7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7964" y="2766417"/>
            <a:ext cx="272296" cy="2722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1633" y="3392924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8 Physical Nodes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6401633" y="3837265"/>
            <a:ext cx="3353514" cy="934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Proxmox cluster providing the hardware backbone for virtualized workloads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0152221" y="2390775"/>
            <a:ext cx="3772257" cy="2590205"/>
          </a:xfrm>
          <a:prstGeom prst="roundRect">
            <a:avLst>
              <a:gd name="adj" fmla="val 327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61533" y="2600087"/>
            <a:ext cx="605076" cy="605076"/>
          </a:xfrm>
          <a:prstGeom prst="roundRect">
            <a:avLst>
              <a:gd name="adj" fmla="val 15110640"/>
            </a:avLst>
          </a:prstGeom>
          <a:solidFill>
            <a:srgbClr val="1A2D7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7863" y="2766417"/>
            <a:ext cx="272296" cy="2722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61533" y="3392924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High-Performance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10361533" y="3837265"/>
            <a:ext cx="3353633" cy="934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Dedicated hardware resources with redundant power and network connectivity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192322" y="5168741"/>
            <a:ext cx="7732157" cy="2278737"/>
          </a:xfrm>
          <a:prstGeom prst="roundRect">
            <a:avLst>
              <a:gd name="adj" fmla="val 37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1633" y="5378053"/>
            <a:ext cx="605076" cy="605076"/>
          </a:xfrm>
          <a:prstGeom prst="roundRect">
            <a:avLst>
              <a:gd name="adj" fmla="val 15110640"/>
            </a:avLst>
          </a:prstGeom>
          <a:solidFill>
            <a:srgbClr val="1A2D7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7964" y="5544383"/>
            <a:ext cx="272296" cy="2722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1633" y="6170890"/>
            <a:ext cx="265414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Virtualization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401633" y="6615232"/>
            <a:ext cx="7313533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Proxmox virtualization layer enables flexible VM management and resource allocation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2198" y="969526"/>
            <a:ext cx="7382470" cy="625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Virtual Network Architecture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52198" y="1845826"/>
            <a:ext cx="7812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Software-defined network built on Proxmox cluster using virtual router (OPNsense)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52198" y="2890480"/>
            <a:ext cx="3822740" cy="2244447"/>
          </a:xfrm>
          <a:prstGeom prst="roundRect">
            <a:avLst>
              <a:gd name="adj" fmla="val 4889"/>
            </a:avLst>
          </a:prstGeom>
          <a:solidFill>
            <a:srgbClr val="FF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152198" y="2867620"/>
            <a:ext cx="3822740" cy="91440"/>
          </a:xfrm>
          <a:prstGeom prst="roundRect">
            <a:avLst>
              <a:gd name="adj" fmla="val 87381"/>
            </a:avLst>
          </a:prstGeom>
          <a:solidFill>
            <a:srgbClr val="1A2D7A"/>
          </a:solidFill>
          <a:ln/>
        </p:spPr>
      </p:sp>
      <p:sp>
        <p:nvSpPr>
          <p:cNvPr id="7" name="Shape 4"/>
          <p:cNvSpPr/>
          <p:nvPr/>
        </p:nvSpPr>
        <p:spPr>
          <a:xfrm>
            <a:off x="7778175" y="2605207"/>
            <a:ext cx="570667" cy="570667"/>
          </a:xfrm>
          <a:prstGeom prst="roundRect">
            <a:avLst>
              <a:gd name="adj" fmla="val 160234"/>
            </a:avLst>
          </a:prstGeom>
          <a:solidFill>
            <a:srgbClr val="1A2D7A"/>
          </a:solidFill>
          <a:ln/>
        </p:spPr>
      </p:sp>
      <p:sp>
        <p:nvSpPr>
          <p:cNvPr id="8" name="Text 5"/>
          <p:cNvSpPr/>
          <p:nvPr/>
        </p:nvSpPr>
        <p:spPr>
          <a:xfrm>
            <a:off x="7949386" y="2747843"/>
            <a:ext cx="22824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65200" y="3366016"/>
            <a:ext cx="2503051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Hospital VLAN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365200" y="3778925"/>
            <a:ext cx="33967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Isolated network segment hosting healthcare application services and patient data systems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141863" y="2890480"/>
            <a:ext cx="3822740" cy="2244447"/>
          </a:xfrm>
          <a:prstGeom prst="roundRect">
            <a:avLst>
              <a:gd name="adj" fmla="val 4889"/>
            </a:avLst>
          </a:prstGeom>
          <a:solidFill>
            <a:srgbClr val="FF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10141863" y="2867620"/>
            <a:ext cx="3822740" cy="91440"/>
          </a:xfrm>
          <a:prstGeom prst="roundRect">
            <a:avLst>
              <a:gd name="adj" fmla="val 87381"/>
            </a:avLst>
          </a:prstGeom>
          <a:solidFill>
            <a:srgbClr val="1A2D7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67840" y="2605207"/>
            <a:ext cx="570667" cy="570667"/>
          </a:xfrm>
          <a:prstGeom prst="roundRect">
            <a:avLst>
              <a:gd name="adj" fmla="val 160234"/>
            </a:avLst>
          </a:prstGeom>
          <a:solidFill>
            <a:srgbClr val="1A2D7A"/>
          </a:solidFill>
          <a:ln/>
        </p:spPr>
      </p:sp>
      <p:sp>
        <p:nvSpPr>
          <p:cNvPr id="14" name="Text 11"/>
          <p:cNvSpPr/>
          <p:nvPr/>
        </p:nvSpPr>
        <p:spPr>
          <a:xfrm>
            <a:off x="11939052" y="2747843"/>
            <a:ext cx="22824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354866" y="3366016"/>
            <a:ext cx="2503051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Ministry VLAN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354866" y="3778925"/>
            <a:ext cx="33967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Separate network for government services and administrative applications with enhanced security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52198" y="5587127"/>
            <a:ext cx="7812405" cy="1672947"/>
          </a:xfrm>
          <a:prstGeom prst="roundRect">
            <a:avLst>
              <a:gd name="adj" fmla="val 6559"/>
            </a:avLst>
          </a:prstGeom>
          <a:solidFill>
            <a:srgbClr val="FF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152198" y="5564267"/>
            <a:ext cx="7812405" cy="91440"/>
          </a:xfrm>
          <a:prstGeom prst="roundRect">
            <a:avLst>
              <a:gd name="adj" fmla="val 87381"/>
            </a:avLst>
          </a:prstGeom>
          <a:solidFill>
            <a:srgbClr val="1A2D7A"/>
          </a:solidFill>
          <a:ln/>
        </p:spPr>
      </p:sp>
      <p:sp>
        <p:nvSpPr>
          <p:cNvPr id="19" name="Shape 16"/>
          <p:cNvSpPr/>
          <p:nvPr/>
        </p:nvSpPr>
        <p:spPr>
          <a:xfrm>
            <a:off x="9773067" y="5301853"/>
            <a:ext cx="570667" cy="570667"/>
          </a:xfrm>
          <a:prstGeom prst="roundRect">
            <a:avLst>
              <a:gd name="adj" fmla="val 160234"/>
            </a:avLst>
          </a:prstGeom>
          <a:solidFill>
            <a:srgbClr val="1A2D7A"/>
          </a:solidFill>
          <a:ln/>
        </p:spPr>
      </p:sp>
      <p:sp>
        <p:nvSpPr>
          <p:cNvPr id="20" name="Text 17"/>
          <p:cNvSpPr/>
          <p:nvPr/>
        </p:nvSpPr>
        <p:spPr>
          <a:xfrm>
            <a:off x="9944279" y="5444490"/>
            <a:ext cx="22824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365200" y="6062663"/>
            <a:ext cx="2503051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Monitoring VLAN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6365200" y="6475571"/>
            <a:ext cx="73863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Dedicated infrastructure for observability stack: Prometheus, Loki, Grafana + Alertmanager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568404"/>
            <a:ext cx="7029093" cy="67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Monitoring Infrastructure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3543" y="3203496"/>
            <a:ext cx="272010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PLG Stack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3543" y="3740706"/>
            <a:ext cx="8392597" cy="149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Prometheus for metrics collection and time-series data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Loki for log aggregation across all VMs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Grafana for visualization and dashboards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Alertmanager for automated notifications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3543" y="5417106"/>
            <a:ext cx="8392597" cy="64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Two dedicated VMs in Monitoring VLAN observe all VMs across Hospital and Ministry VLANs, providing centralized visibility.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108" y="1766054"/>
            <a:ext cx="42862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2057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VM Cluster Segmentation Strategy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570917"/>
            <a:ext cx="1083231" cy="16127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58114" y="27874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Logical Grouping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058114" y="3273623"/>
            <a:ext cx="632757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VM cluster divided into k mini-clusters based on workload relationships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183618"/>
            <a:ext cx="1083231" cy="16127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58114" y="4400193"/>
            <a:ext cx="30106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Reduced Complexity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058114" y="4886325"/>
            <a:ext cx="632757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Provisioning algorithm complexity drops from O(n) to O(n/k)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5796320"/>
            <a:ext cx="1083231" cy="16127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58114" y="60128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Better Distribution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058114" y="6499027"/>
            <a:ext cx="632757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resource distribution and scaling behavior across nodes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5247" y="614363"/>
            <a:ext cx="6238875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VM Provisioning Algorithm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25247" y="1460897"/>
            <a:ext cx="12579787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Hybrid metaheuristic approach combining Differential Evolution and Whale Optimization Algorithm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98483" y="2125742"/>
            <a:ext cx="173117" cy="779264"/>
          </a:xfrm>
          <a:prstGeom prst="roundRect">
            <a:avLst>
              <a:gd name="adj" fmla="val 42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247" y="2012037"/>
            <a:ext cx="519589" cy="519589"/>
          </a:xfrm>
          <a:prstGeom prst="roundRect">
            <a:avLst>
              <a:gd name="adj" fmla="val 8799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144" y="2141934"/>
            <a:ext cx="259794" cy="2597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3187" y="2039064"/>
            <a:ext cx="227885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Sample PMs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83187" y="2406848"/>
            <a:ext cx="11921847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Randomly select m physical nodes from available pool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458278" y="3303270"/>
            <a:ext cx="173117" cy="779264"/>
          </a:xfrm>
          <a:prstGeom prst="roundRect">
            <a:avLst>
              <a:gd name="adj" fmla="val 42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85042" y="3189565"/>
            <a:ext cx="519589" cy="519589"/>
          </a:xfrm>
          <a:prstGeom prst="roundRect">
            <a:avLst>
              <a:gd name="adj" fmla="val 8799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939" y="3319463"/>
            <a:ext cx="259794" cy="2597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42981" y="3216592"/>
            <a:ext cx="227885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Map VMs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942981" y="3584377"/>
            <a:ext cx="11662053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Assign virtual machines to sampled physical nodes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1718072" y="4480798"/>
            <a:ext cx="173117" cy="779264"/>
          </a:xfrm>
          <a:prstGeom prst="roundRect">
            <a:avLst>
              <a:gd name="adj" fmla="val 42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544836" y="4367093"/>
            <a:ext cx="519589" cy="519589"/>
          </a:xfrm>
          <a:prstGeom prst="roundRect">
            <a:avLst>
              <a:gd name="adj" fmla="val 8799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4733" y="4496991"/>
            <a:ext cx="259794" cy="2597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02775" y="4394121"/>
            <a:ext cx="227885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Evaluate Fitness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2202775" y="4761905"/>
            <a:ext cx="1140225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Calculate fitness function for current VM-to-PM mapping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977866" y="5658326"/>
            <a:ext cx="173117" cy="779264"/>
          </a:xfrm>
          <a:prstGeom prst="roundRect">
            <a:avLst>
              <a:gd name="adj" fmla="val 42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804630" y="5544622"/>
            <a:ext cx="519589" cy="519589"/>
          </a:xfrm>
          <a:prstGeom prst="roundRect">
            <a:avLst>
              <a:gd name="adj" fmla="val 8799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4528" y="5674519"/>
            <a:ext cx="259794" cy="2597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62570" y="5571649"/>
            <a:ext cx="2290524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Iterate Remappings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2462570" y="5939433"/>
            <a:ext cx="11142464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Apply optimization techniques to find better placement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1718072" y="6835854"/>
            <a:ext cx="173117" cy="779264"/>
          </a:xfrm>
          <a:prstGeom prst="roundRect">
            <a:avLst>
              <a:gd name="adj" fmla="val 42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544836" y="6722150"/>
            <a:ext cx="519589" cy="519589"/>
          </a:xfrm>
          <a:prstGeom prst="roundRect">
            <a:avLst>
              <a:gd name="adj" fmla="val 8799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4733" y="6852047"/>
            <a:ext cx="259794" cy="2597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02775" y="6749177"/>
            <a:ext cx="227885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Merge Results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2202775" y="7116961"/>
            <a:ext cx="1140225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Combine multiple samples for optimal final mapping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0417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Fitness Function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5015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Weighted Euclidean distance over normalized metrics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740581"/>
            <a:ext cx="6448544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504" y="29647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CPU Usage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2504" y="3450908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Processing power utilization across all cores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2740581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47623" y="29647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Memory (RAM)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47623" y="3450908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Available and used memory resources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309" y="4238387"/>
            <a:ext cx="6448544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504" y="44625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I/O Operations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2504" y="4948714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Disk and network throughput metrics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23428" y="4238387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7623" y="44625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Energy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47623" y="4948714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Power consumption and efficiency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8309" y="5763339"/>
            <a:ext cx="13113782" cy="1462088"/>
          </a:xfrm>
          <a:prstGeom prst="roundRect">
            <a:avLst>
              <a:gd name="adj" fmla="val 6224"/>
            </a:avLst>
          </a:prstGeom>
          <a:solidFill>
            <a:srgbClr val="C0CAF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884" y="6088261"/>
            <a:ext cx="270748" cy="21657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2207" y="6033968"/>
            <a:ext cx="121933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Formula: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fitness = √(w₁·ΔC² + w₂·ΔR² + w₃·ΔI/O² + w₄·ΔE²)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462207" y="6575584"/>
            <a:ext cx="121933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metrics z-score normalized with weights summing to 1, defined by application designer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6891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VM Scaling Policies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1906548"/>
            <a:ext cx="7627382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1A2D7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7829" y="1906548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6" name="Text 3"/>
          <p:cNvSpPr/>
          <p:nvPr/>
        </p:nvSpPr>
        <p:spPr>
          <a:xfrm>
            <a:off x="1096804" y="21536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Horizontal Scaling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6804" y="2639735"/>
            <a:ext cx="704183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Automatic VM duplication triggered by HTTP 5xx error rates or packet loss detection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3796784"/>
            <a:ext cx="7627382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1A2D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7829" y="3796784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0" name="Text 7"/>
          <p:cNvSpPr/>
          <p:nvPr/>
        </p:nvSpPr>
        <p:spPr>
          <a:xfrm>
            <a:off x="1096804" y="404383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Vertical Scaling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6804" y="4529971"/>
            <a:ext cx="704183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Resource increases (vCPU, RAM, disk) triggered by sustained usage thresholds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5687020"/>
            <a:ext cx="7627382" cy="1673662"/>
          </a:xfrm>
          <a:prstGeom prst="roundRect">
            <a:avLst>
              <a:gd name="adj" fmla="val 8742"/>
            </a:avLst>
          </a:prstGeom>
          <a:solidFill>
            <a:srgbClr val="FFFAFA"/>
          </a:solidFill>
          <a:ln w="30480">
            <a:solidFill>
              <a:srgbClr val="1A2D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7829" y="5687020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1A2D7A"/>
          </a:solidFill>
          <a:ln/>
        </p:spPr>
      </p:sp>
      <p:sp>
        <p:nvSpPr>
          <p:cNvPr id="14" name="Text 11"/>
          <p:cNvSpPr/>
          <p:nvPr/>
        </p:nvSpPr>
        <p:spPr>
          <a:xfrm>
            <a:off x="1096804" y="59340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Migration Logic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96804" y="6420207"/>
            <a:ext cx="704183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If physical node lacks resources, VM is automatically migrated using provisioning algorithm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9253" y="431602"/>
            <a:ext cx="6842760" cy="513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Complete Architecture Overview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253" y="1170980"/>
            <a:ext cx="11351776" cy="5195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54458" y="1856102"/>
            <a:ext cx="2643122" cy="330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Container Layer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954458" y="2275842"/>
            <a:ext cx="2767806" cy="43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Kubernetes pods with Best Fit distribution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907733" y="3563660"/>
            <a:ext cx="2544596" cy="330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VM Layer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907733" y="3983400"/>
            <a:ext cx="2544596" cy="43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 mini-clusters and monitoring VLAN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54458" y="4445340"/>
            <a:ext cx="2643122" cy="330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Physical Layer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954458" y="4865080"/>
            <a:ext cx="2767806" cy="43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 Proxmox nodes forming the base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253" y="6492835"/>
            <a:ext cx="390644" cy="3906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70748" y="6492835"/>
            <a:ext cx="205644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Physical Layer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170748" y="6817400"/>
            <a:ext cx="50739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8-node Proxmox cluster with virtualized infrastructure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5566" y="6492835"/>
            <a:ext cx="390644" cy="3906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17061" y="6492835"/>
            <a:ext cx="205644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VM Layer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917061" y="6817400"/>
            <a:ext cx="50739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Mini-clusters with intelligent provisioning and scaling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9253" y="7258050"/>
            <a:ext cx="390644" cy="3906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70748" y="7258050"/>
            <a:ext cx="205644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Container Layer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170748" y="7582614"/>
            <a:ext cx="50739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Kubernetes-managed pods distributed via Best Fit algorithm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5566" y="7258050"/>
            <a:ext cx="390644" cy="3906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17061" y="7258050"/>
            <a:ext cx="2056448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917061" y="7582614"/>
            <a:ext cx="5073968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PLG stack observing all VMs across VLANs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2026-03-29T14:23:20Z</dcterms:created>
  <dcterms:modified xsi:type="dcterms:W3CDTF">2026-03-29T14:23:20Z</dcterms:modified>
</cp:coreProperties>
</file>